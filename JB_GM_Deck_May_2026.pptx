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9" r:id="rId15"/>
    <p:sldId id="281" r:id="rId16"/>
    <p:sldId id="294" r:id="rId17"/>
    <p:sldId id="293" r:id="rId18"/>
    <p:sldId id="297" r:id="rId19"/>
    <p:sldId id="296" r:id="rId20"/>
    <p:sldId id="295" r:id="rId21"/>
  </p:sldIdLst>
  <p:sldSz cx="18288000" cy="10287000"/>
  <p:notesSz cx="6858000" cy="9144000"/>
  <p:embeddedFontLst>
    <p:embeddedFont>
      <p:font typeface="Archivo Black" panose="020B0A03020202020B04" pitchFamily="34" charset="77"/>
      <p:regular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6" autoAdjust="0"/>
    <p:restoredTop sz="94464" autoAdjust="0"/>
  </p:normalViewPr>
  <p:slideViewPr>
    <p:cSldViewPr>
      <p:cViewPr varScale="1">
        <p:scale>
          <a:sx n="94" d="100"/>
          <a:sy n="94" d="100"/>
        </p:scale>
        <p:origin x="7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EA2A6-CE4F-285F-6897-C6C46C668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D67A80-CED2-1701-5ACE-F4D202D662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6C108-7205-77C9-5B71-4BD2B433DF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0D8CB56-8F3D-3A48-F801-7E36F168B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366EDDE-96A8-3909-4645-1922B041B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26455-DB30-9D9D-948E-D42F342319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8E7DB-48E5-2061-C6BC-41AA67F64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568956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72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3873" y="545937"/>
            <a:ext cx="16672425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40"/>
              </a:lnSpc>
            </a:pPr>
            <a:r>
              <a:rPr lang="en-US" sz="10700" spc="-214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NEG+ Innovations, Inc.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33400" y="2705100"/>
            <a:ext cx="9289165" cy="889800"/>
            <a:chOff x="0" y="0"/>
            <a:chExt cx="12385553" cy="118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85563" cy="1186434"/>
            </a:xfrm>
            <a:custGeom>
              <a:avLst/>
              <a:gdLst/>
              <a:ahLst/>
              <a:cxnLst/>
              <a:rect l="l" t="t" r="r" b="b"/>
              <a:pathLst>
                <a:path w="12385563" h="1186434">
                  <a:moveTo>
                    <a:pt x="0" y="0"/>
                  </a:moveTo>
                  <a:lnTo>
                    <a:pt x="12385563" y="0"/>
                  </a:lnTo>
                  <a:lnTo>
                    <a:pt x="12385563" y="1186434"/>
                  </a:lnTo>
                  <a:lnTo>
                    <a:pt x="0" y="11864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2385553" cy="121497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840"/>
                </a:lnSpc>
              </a:pPr>
              <a:r>
                <a:rPr lang="en-US" sz="3200" dirty="0">
                  <a:solidFill>
                    <a:srgbClr val="41B3A3"/>
                  </a:solidFill>
                  <a:latin typeface="Arial"/>
                  <a:ea typeface="Arial"/>
                  <a:cs typeface="Arial"/>
                  <a:sym typeface="Arial"/>
                </a:rPr>
                <a:t>Partnership Opportunity Briefing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7192" y="4248329"/>
            <a:ext cx="18325608" cy="1094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89"/>
              </a:lnSpc>
              <a:spcBef>
                <a:spcPct val="0"/>
              </a:spcBef>
            </a:pPr>
            <a:r>
              <a:rPr lang="en-US" sz="3657" i="1" u="none" strike="noStrike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  Closing the Expression Gap in Women's Health Through Precision Device Innovation</a:t>
            </a:r>
          </a:p>
          <a:p>
            <a:pPr marL="0" lvl="0" indent="0" algn="l">
              <a:lnSpc>
                <a:spcPts val="4389"/>
              </a:lnSpc>
              <a:spcBef>
                <a:spcPct val="0"/>
              </a:spcBef>
            </a:pPr>
            <a:endParaRPr lang="en-US" sz="3657" u="none" strike="noStrike" dirty="0">
              <a:solidFill>
                <a:srgbClr val="1B2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1960" y="6400507"/>
            <a:ext cx="11583840" cy="1886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39"/>
              </a:lnSpc>
              <a:spcBef>
                <a:spcPct val="0"/>
              </a:spcBef>
            </a:pPr>
            <a:r>
              <a:rPr lang="en-US" sz="3699" dirty="0">
                <a:solidFill>
                  <a:srgbClr val="0E2A47"/>
                </a:solidFill>
                <a:latin typeface="Archivo Black"/>
                <a:ea typeface="Archivo Black"/>
                <a:cs typeface="Archivo Black"/>
                <a:sym typeface="Archivo Black"/>
              </a:rPr>
              <a:t>JIMMY BELOTTE, MD, PHD, MBA; FACOG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 dirty="0">
                <a:solidFill>
                  <a:srgbClr val="0E2A47"/>
                </a:solidFill>
                <a:latin typeface="Arial"/>
                <a:ea typeface="Arial"/>
                <a:cs typeface="Arial"/>
                <a:sym typeface="Arial"/>
              </a:rPr>
              <a:t>FOUNDER &amp; CEO, NEG+ INNOVATIONS, INC.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endParaRPr lang="en-US" sz="2700" dirty="0">
              <a:solidFill>
                <a:srgbClr val="0E2A47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4439"/>
              </a:lnSpc>
              <a:spcBef>
                <a:spcPct val="0"/>
              </a:spcBef>
            </a:pPr>
            <a:endParaRPr lang="en-US" sz="2700" dirty="0">
              <a:solidFill>
                <a:srgbClr val="0E2A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-250536" y="7641761"/>
            <a:ext cx="19224335" cy="2489713"/>
            <a:chOff x="0" y="-192882"/>
            <a:chExt cx="26922093" cy="6681436"/>
          </a:xfrm>
        </p:grpSpPr>
        <p:grpSp>
          <p:nvGrpSpPr>
            <p:cNvPr id="9" name="Group 9"/>
            <p:cNvGrpSpPr/>
            <p:nvPr/>
          </p:nvGrpSpPr>
          <p:grpSpPr>
            <a:xfrm>
              <a:off x="1258594" y="-192882"/>
              <a:ext cx="24428097" cy="3315710"/>
              <a:chOff x="0" y="-38100"/>
              <a:chExt cx="4825303" cy="65495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4581" y="345921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114451"/>
              <a:ext cx="26922093" cy="6374103"/>
              <a:chOff x="0" y="-38100"/>
              <a:chExt cx="5317944" cy="125908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48611" y="408182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760608" y="3356599"/>
              <a:ext cx="9424795" cy="122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5B817DD-5812-E1D5-6912-9E1A280F27B5}"/>
              </a:ext>
            </a:extLst>
          </p:cNvPr>
          <p:cNvSpPr txBox="1"/>
          <p:nvPr/>
        </p:nvSpPr>
        <p:spPr>
          <a:xfrm>
            <a:off x="8399211" y="8955998"/>
            <a:ext cx="10034336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99"/>
              </a:lnSpc>
              <a:spcBef>
                <a:spcPct val="0"/>
              </a:spcBef>
            </a:pPr>
            <a:r>
              <a:rPr lang="en-US" sz="1499" spc="-29" dirty="0">
                <a:solidFill>
                  <a:srgbClr val="FFFFFF"/>
                </a:solidFill>
                <a:latin typeface="Archivo Black"/>
              </a:rPr>
              <a:t>BIDC/HMS Zoom Meeting with Greg Matz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83625" y="200016"/>
            <a:ext cx="139207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27"/>
              </a:lnSpc>
            </a:pPr>
            <a:r>
              <a:rPr lang="en-US" sz="6000" spc="-12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688578"/>
              </p:ext>
            </p:extLst>
          </p:nvPr>
        </p:nvGraphicFramePr>
        <p:xfrm>
          <a:off x="1943100" y="1357583"/>
          <a:ext cx="14401800" cy="5552703"/>
        </p:xfrm>
        <a:graphic>
          <a:graphicData uri="http://schemas.openxmlformats.org/drawingml/2006/table">
            <a:tbl>
              <a:tblPr/>
              <a:tblGrid>
                <a:gridCol w="1486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5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146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1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3A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r>
                        <a:rPr lang="en-US" sz="2000" u="none" strike="noStrike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roduction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1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1B263B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2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3A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Expression Gap : Why Women's Health Can't Wait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1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1B263B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3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3A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Problems &amp; Opportunities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1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4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3A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 Device Portfolio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14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5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3A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dirty="0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</a:t>
                      </a:r>
                      <a:r>
                        <a:rPr lang="en-US" sz="2000" u="none" strike="noStrike" dirty="0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Ask: Opportunity to Help Build the Future of Women’s Health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6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6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3A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 dirty="0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 to You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6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7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3A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 to NEG+ Innovations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06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8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3A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 Steps (OTT)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0146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>
                          <a:solidFill>
                            <a:srgbClr val="1B263B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12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3A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4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dirty="0">
                          <a:solidFill>
                            <a:srgbClr val="1B26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Q&amp;A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B8B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C7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5" name="Group 5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94895" y="428118"/>
            <a:ext cx="6898209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12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114" y="2371838"/>
            <a:ext cx="1739377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i="1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Every device in our portfolio was born from a clinical moment — a patient who deserved better.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3400" y="3576421"/>
            <a:ext cx="4712006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JIMMY BELOTTE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3406" y="4199813"/>
            <a:ext cx="8927794" cy="4906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FOUNDER CLINICIAN-SCIENTIST (MD, PHD)</a:t>
            </a:r>
          </a:p>
          <a:p>
            <a:pPr marL="647700" lvl="1" indent="-323850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B/C OB/GYN (FACOG), 19+ YRS.</a:t>
            </a:r>
          </a:p>
          <a:p>
            <a:pPr marL="647700" lvl="1" indent="-323850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ACTIVE LICENSES (NY, MI, MA)</a:t>
            </a:r>
          </a:p>
          <a:p>
            <a:pPr marL="647700" lvl="1" indent="-323850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R&amp;D EXPERTISE (GSK)</a:t>
            </a:r>
          </a:p>
          <a:p>
            <a:pPr marL="647700" lvl="1" indent="-323850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NIH SCHOLAR (WRHR)</a:t>
            </a:r>
          </a:p>
          <a:p>
            <a:pPr marL="647700" lvl="1" indent="-323850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FORMER  ASSOCIATE PROFESSOR </a:t>
            </a:r>
          </a:p>
          <a:p>
            <a:pPr marL="323850" lvl="1" algn="l">
              <a:lnSpc>
                <a:spcPct val="150000"/>
              </a:lnSpc>
            </a:pPr>
            <a:r>
              <a:rPr lang="en-US" sz="20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    (WSU, EINSTEIN COLLEGE OF MEDICINE) </a:t>
            </a:r>
          </a:p>
          <a:p>
            <a:pPr marL="647700" lvl="1" indent="-32385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1B263B"/>
                </a:solidFill>
                <a:latin typeface="Arial"/>
                <a:cs typeface="Arial"/>
                <a:sym typeface="Arial"/>
              </a:rPr>
              <a:t>BUSINESS EXECUTIVE (MBA)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98175" y="3596611"/>
            <a:ext cx="6218225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NEG+ INNOVATIONS, INC.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77600" y="4274516"/>
            <a:ext cx="5867400" cy="4069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1B263B"/>
                </a:solidFill>
                <a:latin typeface="Arial"/>
                <a:cs typeface="Arial"/>
                <a:sym typeface="Arial"/>
              </a:rPr>
              <a:t>DELAWARE C-CORP.</a:t>
            </a:r>
          </a:p>
          <a:p>
            <a:pPr marL="647700" lvl="1" indent="-323850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1B263B"/>
                </a:solidFill>
                <a:latin typeface="Arial"/>
                <a:cs typeface="Arial"/>
                <a:sym typeface="Arial"/>
              </a:rPr>
              <a:t>WESTON, MA (HQ)</a:t>
            </a:r>
          </a:p>
          <a:p>
            <a:pPr marL="647700" lvl="1" indent="-323850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1B263B"/>
                </a:solidFill>
                <a:latin typeface="Arial"/>
                <a:cs typeface="Arial"/>
                <a:sym typeface="Arial"/>
              </a:rPr>
              <a:t>FOCUS (FEMTECH)</a:t>
            </a:r>
          </a:p>
          <a:p>
            <a:pPr marL="647700" lvl="1" indent="-323850" algn="l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MISSION</a:t>
            </a:r>
          </a:p>
          <a:p>
            <a:pPr marL="647700" lvl="1" indent="-323850" algn="l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</a:p>
          <a:p>
            <a:pPr marL="647700" lvl="1" indent="-323850" algn="l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667" y="-19050"/>
            <a:ext cx="344775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 spc="-30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10" name="Group 10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6B6A820-0BC7-7822-ACD7-BF90D30869BB}"/>
              </a:ext>
            </a:extLst>
          </p:cNvPr>
          <p:cNvSpPr txBox="1"/>
          <p:nvPr/>
        </p:nvSpPr>
        <p:spPr>
          <a:xfrm>
            <a:off x="17501937" y="87910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0944" y="437326"/>
            <a:ext cx="1286700" cy="1283336"/>
          </a:xfrm>
          <a:custGeom>
            <a:avLst/>
            <a:gdLst/>
            <a:ahLst/>
            <a:cxnLst/>
            <a:rect l="l" t="t" r="r" b="b"/>
            <a:pathLst>
              <a:path w="1286700" h="1283336">
                <a:moveTo>
                  <a:pt x="0" y="0"/>
                </a:moveTo>
                <a:lnTo>
                  <a:pt x="1286700" y="0"/>
                </a:lnTo>
                <a:lnTo>
                  <a:pt x="1286700" y="1283336"/>
                </a:lnTo>
                <a:lnTo>
                  <a:pt x="0" y="1283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49388" y="-1420949"/>
            <a:ext cx="19902969" cy="5192849"/>
          </a:xfrm>
          <a:custGeom>
            <a:avLst/>
            <a:gdLst/>
            <a:ahLst/>
            <a:cxnLst/>
            <a:rect l="l" t="t" r="r" b="b"/>
            <a:pathLst>
              <a:path w="19902969" h="6104456">
                <a:moveTo>
                  <a:pt x="0" y="0"/>
                </a:moveTo>
                <a:lnTo>
                  <a:pt x="19902969" y="0"/>
                </a:lnTo>
                <a:lnTo>
                  <a:pt x="19902969" y="6104456"/>
                </a:lnTo>
                <a:lnTo>
                  <a:pt x="0" y="61044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3597" b="-437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076701" y="5372100"/>
            <a:ext cx="10134599" cy="369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848" lvl="1" indent="-259424" algn="l">
              <a:lnSpc>
                <a:spcPts val="2883"/>
              </a:lnSpc>
              <a:buFont typeface="Arial"/>
              <a:buChar char="•"/>
            </a:pPr>
            <a:r>
              <a:rPr lang="en-US" sz="36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Clinician-led innovation</a:t>
            </a:r>
          </a:p>
          <a:p>
            <a:pPr marL="259424" lvl="1" algn="l">
              <a:lnSpc>
                <a:spcPts val="2883"/>
              </a:lnSpc>
            </a:pPr>
            <a:endParaRPr lang="en-US" sz="3600" dirty="0">
              <a:solidFill>
                <a:srgbClr val="1B26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8848" lvl="1" indent="-259424" algn="l">
              <a:lnSpc>
                <a:spcPts val="2883"/>
              </a:lnSpc>
              <a:buFont typeface="Arial"/>
              <a:buChar char="•"/>
            </a:pPr>
            <a:r>
              <a:rPr lang="en-US" sz="36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Evidence-driven development</a:t>
            </a:r>
          </a:p>
          <a:p>
            <a:pPr marL="518848" lvl="1" indent="-259424" algn="l">
              <a:lnSpc>
                <a:spcPts val="2883"/>
              </a:lnSpc>
              <a:buFont typeface="Arial"/>
              <a:buChar char="•"/>
            </a:pPr>
            <a:endParaRPr lang="en-US" sz="3600" dirty="0">
              <a:solidFill>
                <a:srgbClr val="1B26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8848" lvl="1" indent="-259424" algn="l">
              <a:lnSpc>
                <a:spcPts val="2883"/>
              </a:lnSpc>
              <a:buFont typeface="Arial"/>
              <a:buChar char="•"/>
            </a:pPr>
            <a:r>
              <a:rPr lang="en-US" sz="36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Equity-centered design</a:t>
            </a:r>
          </a:p>
          <a:p>
            <a:pPr marL="518848" lvl="1" indent="-259424" algn="l">
              <a:lnSpc>
                <a:spcPts val="2883"/>
              </a:lnSpc>
              <a:buFont typeface="Arial"/>
              <a:buChar char="•"/>
            </a:pPr>
            <a:endParaRPr lang="en-US" sz="3600" dirty="0">
              <a:solidFill>
                <a:srgbClr val="1B26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8848" lvl="1" indent="-259424" algn="l">
              <a:lnSpc>
                <a:spcPts val="2883"/>
              </a:lnSpc>
              <a:buFont typeface="Arial"/>
              <a:buChar char="•"/>
            </a:pPr>
            <a:r>
              <a:rPr lang="en-US" sz="36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Academic co-development</a:t>
            </a:r>
          </a:p>
          <a:p>
            <a:pPr marL="518848" lvl="1" indent="-259424" algn="l">
              <a:lnSpc>
                <a:spcPts val="2883"/>
              </a:lnSpc>
              <a:buFont typeface="Arial"/>
              <a:buChar char="•"/>
            </a:pPr>
            <a:endParaRPr lang="en-US" sz="3600" dirty="0">
              <a:solidFill>
                <a:srgbClr val="1B26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8848" lvl="1" indent="-259424" algn="l">
              <a:lnSpc>
                <a:spcPts val="2883"/>
              </a:lnSpc>
              <a:buFont typeface="Arial"/>
              <a:buChar char="•"/>
            </a:pPr>
            <a:r>
              <a:rPr lang="en-US" sz="36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Diverse and experienced team</a:t>
            </a:r>
          </a:p>
          <a:p>
            <a:pPr algn="l">
              <a:lnSpc>
                <a:spcPts val="2883"/>
              </a:lnSpc>
            </a:pPr>
            <a:endParaRPr lang="en-US" sz="2403" dirty="0">
              <a:solidFill>
                <a:srgbClr val="1B2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96925" y="4076700"/>
            <a:ext cx="1349415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spc="-132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NEG+ Is Different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7" name="Group 7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9391" y="4630363"/>
            <a:ext cx="17143809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1B263B"/>
                </a:solidFill>
                <a:latin typeface="Arial"/>
                <a:cs typeface="Arial"/>
                <a:sym typeface="Arial"/>
              </a:rPr>
              <a:t>To become the defining physician-led women's health medical device company of the next decade — one where every innovation in our portfolio is grounded in evidence, protected by strong IP, built in partnership with academic medicine, and scaled through a commercial infrastructure designed for lasting patient impact.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80825" y="342900"/>
            <a:ext cx="113263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12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Who We Are?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9391" y="3983615"/>
            <a:ext cx="11326350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VISION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9391" y="7069975"/>
            <a:ext cx="17143809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1B263B"/>
                </a:solidFill>
                <a:latin typeface="Arial"/>
                <a:cs typeface="Arial"/>
                <a:sym typeface="Arial"/>
              </a:rPr>
              <a:t>Patient First, Always · Physician-Driven Design · Evidence Before Everything · Equity in Women's Health Access · Rigorous Regulatory Stewardship · Transparent Partnership · Commercial Purpose in Service of Clinical Mission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9391" y="1562100"/>
            <a:ext cx="11326350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dirty="0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9391" y="6405130"/>
            <a:ext cx="11326350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9391" y="2074545"/>
            <a:ext cx="17143809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To close the expression gap in women's health by designing, developing, and commercializing novel medical devices that improve clinical outcomes, enhance procedural safety, and give every woman — regardless of geography or socioeconomic status — access to the standard of care she deserves. We exist for the patient first.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479813" y="9193050"/>
            <a:ext cx="19247625" cy="3316599"/>
            <a:chOff x="0" y="0"/>
            <a:chExt cx="25663500" cy="4422132"/>
          </a:xfrm>
        </p:grpSpPr>
        <p:grpSp>
          <p:nvGrpSpPr>
            <p:cNvPr id="10" name="Group 10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84571" y="265285"/>
            <a:ext cx="14211750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12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Expression Gap</a:t>
            </a:r>
          </a:p>
          <a:p>
            <a:pPr algn="ctr">
              <a:lnSpc>
                <a:spcPts val="7200"/>
              </a:lnSpc>
            </a:pPr>
            <a:r>
              <a:rPr lang="en-US" sz="6000" spc="-12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Women's Health Can't Wait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667" y="-19050"/>
            <a:ext cx="344775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 spc="-30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9319" y="3695700"/>
            <a:ext cx="1884600" cy="1255014"/>
            <a:chOff x="0" y="0"/>
            <a:chExt cx="2512800" cy="16733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12822" cy="1673409"/>
            </a:xfrm>
            <a:custGeom>
              <a:avLst/>
              <a:gdLst/>
              <a:ahLst/>
              <a:cxnLst/>
              <a:rect l="l" t="t" r="r" b="b"/>
              <a:pathLst>
                <a:path w="2512822" h="1673409">
                  <a:moveTo>
                    <a:pt x="0" y="0"/>
                  </a:moveTo>
                  <a:lnTo>
                    <a:pt x="2512822" y="0"/>
                  </a:lnTo>
                  <a:lnTo>
                    <a:pt x="2512822" y="1673409"/>
                  </a:lnTo>
                  <a:lnTo>
                    <a:pt x="0" y="1673409"/>
                  </a:lnTo>
                  <a:close/>
                </a:path>
              </a:pathLst>
            </a:custGeom>
            <a:solidFill>
              <a:srgbClr val="1B26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512800" cy="1692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41B3A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5%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94744" y="3695700"/>
            <a:ext cx="1884600" cy="1255014"/>
            <a:chOff x="0" y="0"/>
            <a:chExt cx="2512800" cy="16733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12822" cy="1673409"/>
            </a:xfrm>
            <a:custGeom>
              <a:avLst/>
              <a:gdLst/>
              <a:ahLst/>
              <a:cxnLst/>
              <a:rect l="l" t="t" r="r" b="b"/>
              <a:pathLst>
                <a:path w="2512822" h="1673409">
                  <a:moveTo>
                    <a:pt x="0" y="0"/>
                  </a:moveTo>
                  <a:lnTo>
                    <a:pt x="2512822" y="0"/>
                  </a:lnTo>
                  <a:lnTo>
                    <a:pt x="2512822" y="1673409"/>
                  </a:lnTo>
                  <a:lnTo>
                    <a:pt x="0" y="1673409"/>
                  </a:lnTo>
                  <a:close/>
                </a:path>
              </a:pathLst>
            </a:custGeom>
            <a:solidFill>
              <a:srgbClr val="1B26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512800" cy="1692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41B3A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$1T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70094" y="3695700"/>
            <a:ext cx="1884600" cy="1255014"/>
            <a:chOff x="0" y="0"/>
            <a:chExt cx="2512800" cy="16733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12822" cy="1673409"/>
            </a:xfrm>
            <a:custGeom>
              <a:avLst/>
              <a:gdLst/>
              <a:ahLst/>
              <a:cxnLst/>
              <a:rect l="l" t="t" r="r" b="b"/>
              <a:pathLst>
                <a:path w="2512822" h="1673409">
                  <a:moveTo>
                    <a:pt x="0" y="0"/>
                  </a:moveTo>
                  <a:lnTo>
                    <a:pt x="2512822" y="0"/>
                  </a:lnTo>
                  <a:lnTo>
                    <a:pt x="2512822" y="1673409"/>
                  </a:lnTo>
                  <a:lnTo>
                    <a:pt x="0" y="1673409"/>
                  </a:lnTo>
                  <a:close/>
                </a:path>
              </a:pathLst>
            </a:custGeom>
            <a:solidFill>
              <a:srgbClr val="1B26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512800" cy="1692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41B3A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40X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945519" y="3695700"/>
            <a:ext cx="2423162" cy="1255014"/>
            <a:chOff x="0" y="0"/>
            <a:chExt cx="3230882" cy="16733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30904" cy="1673409"/>
            </a:xfrm>
            <a:custGeom>
              <a:avLst/>
              <a:gdLst/>
              <a:ahLst/>
              <a:cxnLst/>
              <a:rect l="l" t="t" r="r" b="b"/>
              <a:pathLst>
                <a:path w="3230904" h="1673409">
                  <a:moveTo>
                    <a:pt x="0" y="0"/>
                  </a:moveTo>
                  <a:lnTo>
                    <a:pt x="3230904" y="0"/>
                  </a:lnTo>
                  <a:lnTo>
                    <a:pt x="3230904" y="1673409"/>
                  </a:lnTo>
                  <a:lnTo>
                    <a:pt x="0" y="1673409"/>
                  </a:lnTo>
                  <a:close/>
                </a:path>
              </a:pathLst>
            </a:custGeom>
            <a:solidFill>
              <a:srgbClr val="1B26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3230882" cy="1692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41B3A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160%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2803919" y="4323207"/>
            <a:ext cx="2790825" cy="0"/>
          </a:xfrm>
          <a:prstGeom prst="line">
            <a:avLst/>
          </a:prstGeom>
          <a:ln w="9525" cap="rnd">
            <a:solidFill>
              <a:srgbClr val="1B26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7479344" y="4323207"/>
            <a:ext cx="2790750" cy="0"/>
          </a:xfrm>
          <a:prstGeom prst="line">
            <a:avLst/>
          </a:prstGeom>
          <a:ln w="9525" cap="rnd">
            <a:solidFill>
              <a:srgbClr val="1B26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2154694" y="4323207"/>
            <a:ext cx="2790825" cy="0"/>
          </a:xfrm>
          <a:prstGeom prst="line">
            <a:avLst/>
          </a:prstGeom>
          <a:ln w="9525" cap="rnd">
            <a:solidFill>
              <a:srgbClr val="1B26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38667" y="5152057"/>
            <a:ext cx="3645904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OF GLOBAL R&amp;D FUNDS WOMEN'S HEALTH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9442" y="5223473"/>
            <a:ext cx="3645904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MOIC $350M→$14B</a:t>
            </a:r>
          </a:p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ECONOMIC RETURN (WHAM)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34148" y="5152057"/>
            <a:ext cx="3645904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FASTER FEMTECH GROWTH VS. BROADER HEALTHCARE MARKET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14092" y="5152057"/>
            <a:ext cx="3645904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ANNUAL GDP GAIN BY CLOSING THE WOMEN'S HEALTH GAP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-479813" y="9258300"/>
            <a:ext cx="19247625" cy="3316599"/>
            <a:chOff x="0" y="0"/>
            <a:chExt cx="25663500" cy="4422132"/>
          </a:xfrm>
        </p:grpSpPr>
        <p:grpSp>
          <p:nvGrpSpPr>
            <p:cNvPr id="24" name="Group 24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520363"/>
            <a:ext cx="8115300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~5% of global R&amp;D targets women’s health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~10.8% of NIH funding goes to women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3.5× more likely to face drug safety recalls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700+ diseases are diagnosed later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Cancer diagnosis delayed ~2.5 years</a:t>
            </a:r>
          </a:p>
          <a:p>
            <a:pPr algn="l">
              <a:lnSpc>
                <a:spcPts val="2837"/>
              </a:lnSpc>
            </a:pPr>
            <a:endParaRPr lang="en-US" sz="2364">
              <a:solidFill>
                <a:srgbClr val="41B3A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700689"/>
            <a:ext cx="553095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4655" spc="-93">
                <a:solidFill>
                  <a:srgbClr val="0E2A47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R&amp;D GAP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92272" y="2520363"/>
            <a:ext cx="7999261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$12.22B saved/year from 5% nurse turnover reduction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£5 return per £1 invested in women’s health hubs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Endometriosis coding expanded (9 → 100+), improving reimbursement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FemTech partnerships = 23% of 2024 deals, surpassing pharma</a:t>
            </a:r>
          </a:p>
          <a:p>
            <a:pPr algn="l">
              <a:lnSpc>
                <a:spcPts val="2837"/>
              </a:lnSpc>
            </a:pPr>
            <a:endParaRPr lang="en-US" sz="2364">
              <a:solidFill>
                <a:srgbClr val="41B3A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792272" y="1748314"/>
            <a:ext cx="799926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040">
                <a:solidFill>
                  <a:srgbClr val="0E2A47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PAYER &amp; VALUE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777102"/>
            <a:ext cx="8115300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$2.6B invested in FemTech (2024), +55% YoY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Market projected to reach $206.8B by 2033 (+260%)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Endometriosis: $44M vs. $1.24B for erectile dysfunction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$1 in family planning → $120 economic return</a:t>
            </a:r>
          </a:p>
          <a:p>
            <a:pPr algn="l">
              <a:lnSpc>
                <a:spcPts val="2837"/>
              </a:lnSpc>
            </a:pPr>
            <a:endParaRPr lang="en-US" sz="2364">
              <a:solidFill>
                <a:srgbClr val="41B3A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047222"/>
            <a:ext cx="553095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040">
                <a:solidFill>
                  <a:srgbClr val="0E2A47"/>
                </a:solidFill>
                <a:latin typeface="Archivo Black"/>
                <a:ea typeface="Archivo Black"/>
                <a:cs typeface="Archivo Black"/>
                <a:sym typeface="Archivo Black"/>
              </a:rPr>
              <a:t>INVESTOR ROI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92272" y="6777102"/>
            <a:ext cx="7999261" cy="388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20% of work hours lost to presenteeism (~49.7 days/year)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50% of women’s health burden affects working-age women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+1.7% GDP from closing the women’s health gap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~$400B gain from reducing disease burden</a:t>
            </a:r>
          </a:p>
          <a:p>
            <a:pPr marL="510441" lvl="1" indent="-255221" algn="l">
              <a:lnSpc>
                <a:spcPts val="2837"/>
              </a:lnSpc>
              <a:buFont typeface="Arial"/>
              <a:buChar char="•"/>
            </a:pPr>
            <a:r>
              <a:rPr lang="en-US" sz="2364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60% of top-20 pharma revenue tied to women-related conditions</a:t>
            </a:r>
          </a:p>
          <a:p>
            <a:pPr algn="l">
              <a:lnSpc>
                <a:spcPts val="2837"/>
              </a:lnSpc>
            </a:pPr>
            <a:endParaRPr lang="en-US" sz="2364">
              <a:solidFill>
                <a:srgbClr val="41B3A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837"/>
              </a:lnSpc>
            </a:pPr>
            <a:endParaRPr lang="en-US" sz="2364">
              <a:solidFill>
                <a:srgbClr val="41B3A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837"/>
              </a:lnSpc>
            </a:pPr>
            <a:endParaRPr lang="en-US" sz="2364">
              <a:solidFill>
                <a:srgbClr val="41B3A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92272" y="6047222"/>
            <a:ext cx="799926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040">
                <a:solidFill>
                  <a:srgbClr val="0E2A47"/>
                </a:solidFill>
                <a:latin typeface="Archivo Black"/>
                <a:ea typeface="Archivo Black"/>
                <a:cs typeface="Archivo Black"/>
                <a:sym typeface="Archivo Black"/>
              </a:rPr>
              <a:t>EMPLOYER &amp; IMPACT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11" name="Group 11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361525" y="-411116"/>
            <a:ext cx="9930684" cy="11381356"/>
          </a:xfrm>
          <a:custGeom>
            <a:avLst/>
            <a:gdLst/>
            <a:ahLst/>
            <a:cxnLst/>
            <a:rect l="l" t="t" r="r" b="b"/>
            <a:pathLst>
              <a:path w="9930684" h="11381356">
                <a:moveTo>
                  <a:pt x="9930684" y="0"/>
                </a:moveTo>
                <a:lnTo>
                  <a:pt x="0" y="0"/>
                </a:lnTo>
                <a:lnTo>
                  <a:pt x="0" y="11381356"/>
                </a:lnTo>
                <a:lnTo>
                  <a:pt x="9930684" y="11381356"/>
                </a:lnTo>
                <a:lnTo>
                  <a:pt x="9930684" y="0"/>
                </a:lnTo>
                <a:close/>
              </a:path>
            </a:pathLst>
          </a:custGeom>
          <a:blipFill>
            <a:blip r:embed="rId3"/>
            <a:stretch>
              <a:fillRect t="-15459" b="-154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83094" y="770926"/>
            <a:ext cx="1286700" cy="1283336"/>
          </a:xfrm>
          <a:custGeom>
            <a:avLst/>
            <a:gdLst/>
            <a:ahLst/>
            <a:cxnLst/>
            <a:rect l="l" t="t" r="r" b="b"/>
            <a:pathLst>
              <a:path w="1286700" h="1283336">
                <a:moveTo>
                  <a:pt x="0" y="0"/>
                </a:moveTo>
                <a:lnTo>
                  <a:pt x="1286700" y="0"/>
                </a:lnTo>
                <a:lnTo>
                  <a:pt x="1286700" y="1283336"/>
                </a:lnTo>
                <a:lnTo>
                  <a:pt x="0" y="1283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580690" y="1928812"/>
            <a:ext cx="649465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4655" spc="-93" dirty="0">
                <a:solidFill>
                  <a:srgbClr val="0E2A47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Analog Diagnostics</a:t>
            </a:r>
          </a:p>
        </p:txBody>
      </p:sp>
      <p:sp>
        <p:nvSpPr>
          <p:cNvPr id="5" name="Freeform 5"/>
          <p:cNvSpPr/>
          <p:nvPr/>
        </p:nvSpPr>
        <p:spPr>
          <a:xfrm>
            <a:off x="-10947" y="0"/>
            <a:ext cx="6580106" cy="10834249"/>
          </a:xfrm>
          <a:custGeom>
            <a:avLst/>
            <a:gdLst/>
            <a:ahLst/>
            <a:cxnLst/>
            <a:rect l="l" t="t" r="r" b="b"/>
            <a:pathLst>
              <a:path w="6580106" h="10834249">
                <a:moveTo>
                  <a:pt x="0" y="0"/>
                </a:moveTo>
                <a:lnTo>
                  <a:pt x="6580106" y="0"/>
                </a:lnTo>
                <a:lnTo>
                  <a:pt x="6580106" y="10834249"/>
                </a:lnTo>
                <a:lnTo>
                  <a:pt x="0" y="108342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68" r="-24360" b="-3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8667" y="-19050"/>
            <a:ext cx="344775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 spc="-3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76449" y="294676"/>
            <a:ext cx="139207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12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Problems &amp; Opportunities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34400" y="4302360"/>
            <a:ext cx="9144000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4000" b="1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POP-Q staging: </a:t>
            </a:r>
            <a:r>
              <a:rPr lang="en-US" sz="4000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ICC 0.45–0.75 — two physicians examining the same patient often reach different diagnoses. No digital record, no standardization.</a:t>
            </a:r>
          </a:p>
          <a:p>
            <a:pPr algn="l">
              <a:lnSpc>
                <a:spcPts val="2837"/>
              </a:lnSpc>
            </a:pPr>
            <a:endParaRPr lang="en-US" sz="2364" dirty="0">
              <a:solidFill>
                <a:srgbClr val="41B3A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10" name="Group 10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0" y="29529"/>
            <a:ext cx="7068596" cy="10156658"/>
          </a:xfrm>
          <a:custGeom>
            <a:avLst/>
            <a:gdLst/>
            <a:ahLst/>
            <a:cxnLst/>
            <a:rect l="l" t="t" r="r" b="b"/>
            <a:pathLst>
              <a:path w="7267015" h="10287000">
                <a:moveTo>
                  <a:pt x="0" y="0"/>
                </a:moveTo>
                <a:lnTo>
                  <a:pt x="7267015" y="0"/>
                </a:lnTo>
                <a:lnTo>
                  <a:pt x="726701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1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534400" y="1588518"/>
            <a:ext cx="860136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4655" spc="-93" dirty="0">
                <a:solidFill>
                  <a:srgbClr val="0E2A47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Outdated Instrumentation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0" y="225494"/>
            <a:ext cx="139207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12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Problems &amp; Opportunities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03275" y="3619500"/>
            <a:ext cx="10287000" cy="2575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 b="1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TLH colpotomy: </a:t>
            </a:r>
            <a:r>
              <a:rPr lang="en-US" sz="3600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8–14 min free-hand average, 3–6mm thermal spread, 1–4% vaginal cuff dehiscence — leading cause of post-hysterectomy reoperation.</a:t>
            </a:r>
          </a:p>
          <a:p>
            <a:pPr algn="l">
              <a:lnSpc>
                <a:spcPts val="2837"/>
              </a:lnSpc>
            </a:pPr>
            <a:endParaRPr lang="en-US" sz="2364" dirty="0">
              <a:solidFill>
                <a:srgbClr val="41B3A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10" name="Group 10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3094" y="770926"/>
            <a:ext cx="1286700" cy="1283336"/>
          </a:xfrm>
          <a:custGeom>
            <a:avLst/>
            <a:gdLst/>
            <a:ahLst/>
            <a:cxnLst/>
            <a:rect l="l" t="t" r="r" b="b"/>
            <a:pathLst>
              <a:path w="1286700" h="1283336">
                <a:moveTo>
                  <a:pt x="0" y="0"/>
                </a:moveTo>
                <a:lnTo>
                  <a:pt x="1286700" y="0"/>
                </a:lnTo>
                <a:lnTo>
                  <a:pt x="1286700" y="1283336"/>
                </a:lnTo>
                <a:lnTo>
                  <a:pt x="0" y="1283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6084969" y="-83025"/>
            <a:ext cx="12654128" cy="10453050"/>
          </a:xfrm>
          <a:custGeom>
            <a:avLst/>
            <a:gdLst/>
            <a:ahLst/>
            <a:cxnLst/>
            <a:rect l="l" t="t" r="r" b="b"/>
            <a:pathLst>
              <a:path w="12654128" h="10453050">
                <a:moveTo>
                  <a:pt x="0" y="0"/>
                </a:moveTo>
                <a:lnTo>
                  <a:pt x="12654128" y="0"/>
                </a:lnTo>
                <a:lnTo>
                  <a:pt x="12654128" y="10453050"/>
                </a:lnTo>
                <a:lnTo>
                  <a:pt x="0" y="1045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40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209325" y="1788386"/>
            <a:ext cx="649465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4655" spc="-93" dirty="0">
                <a:solidFill>
                  <a:srgbClr val="0E2A47"/>
                </a:solidFill>
                <a:latin typeface="Archivo Black"/>
                <a:ea typeface="Archivo Black"/>
                <a:cs typeface="Archivo Black"/>
                <a:sym typeface="Archivo Black"/>
              </a:rPr>
              <a:t>Blind Nerve Block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667" y="-19050"/>
            <a:ext cx="344775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 spc="-3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76449" y="294676"/>
            <a:ext cx="139207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12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Problems &amp; Opportunities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47541" y="3467100"/>
            <a:ext cx="9018224" cy="2575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 b="1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Pudendal blocks: </a:t>
            </a:r>
            <a:r>
              <a:rPr lang="en-US" sz="3600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15–30% first-attempt failure, 3–8% hematoma risk from inadvertent vascular puncture. No depth confirmation, no standardization.</a:t>
            </a:r>
          </a:p>
          <a:p>
            <a:pPr algn="l">
              <a:lnSpc>
                <a:spcPts val="2837"/>
              </a:lnSpc>
            </a:pPr>
            <a:endParaRPr lang="en-US" sz="2364" dirty="0">
              <a:solidFill>
                <a:srgbClr val="41B3A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10" name="Group 10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83625" y="666750"/>
            <a:ext cx="139207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12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Device Portfolio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43400" y="3247368"/>
            <a:ext cx="11201987" cy="4219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3617" lvl="1" indent="-426808" algn="l">
              <a:lnSpc>
                <a:spcPts val="4744"/>
              </a:lnSpc>
              <a:buFont typeface="Arial"/>
              <a:buChar char="•"/>
            </a:pPr>
            <a:r>
              <a:rPr lang="en-US" sz="3953" u="sng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Pudendal Nerve Block Device</a:t>
            </a:r>
          </a:p>
          <a:p>
            <a:pPr algn="l">
              <a:lnSpc>
                <a:spcPts val="4744"/>
              </a:lnSpc>
            </a:pPr>
            <a:endParaRPr lang="en-US" sz="3953" dirty="0">
              <a:solidFill>
                <a:srgbClr val="1B263B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marL="853617" lvl="1" indent="-426808" algn="l">
              <a:lnSpc>
                <a:spcPts val="4744"/>
              </a:lnSpc>
              <a:buFont typeface="Arial"/>
              <a:buChar char="•"/>
            </a:pPr>
            <a:r>
              <a:rPr lang="en-US" sz="3953" u="sng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Belotte </a:t>
            </a:r>
            <a:r>
              <a:rPr lang="en-US" sz="3953" u="sng" dirty="0" err="1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Colpotomizer</a:t>
            </a:r>
            <a:r>
              <a:rPr lang="en-US" sz="3953" u="sng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™</a:t>
            </a:r>
          </a:p>
          <a:p>
            <a:pPr algn="l">
              <a:lnSpc>
                <a:spcPts val="4744"/>
              </a:lnSpc>
            </a:pPr>
            <a:endParaRPr lang="en-US" sz="3953" dirty="0">
              <a:solidFill>
                <a:srgbClr val="1B263B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marL="853617" lvl="1" indent="-426808">
              <a:lnSpc>
                <a:spcPts val="4744"/>
              </a:lnSpc>
              <a:buFont typeface="Arial"/>
              <a:buChar char="•"/>
            </a:pPr>
            <a:r>
              <a:rPr lang="en-US" sz="3953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POP-Q Digital Platform-Autosense™</a:t>
            </a:r>
          </a:p>
          <a:p>
            <a:pPr marL="426809" lvl="1">
              <a:lnSpc>
                <a:spcPts val="4744"/>
              </a:lnSpc>
            </a:pPr>
            <a:endParaRPr lang="en-US" sz="3953" dirty="0">
              <a:solidFill>
                <a:srgbClr val="1B263B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marL="853617" lvl="1" indent="-426808" algn="l">
              <a:lnSpc>
                <a:spcPts val="4744"/>
              </a:lnSpc>
              <a:buFont typeface="Arial"/>
              <a:buChar char="•"/>
            </a:pPr>
            <a:r>
              <a:rPr lang="en-US" sz="3953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MUMS™ (IP hold)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76600" y="1905000"/>
            <a:ext cx="12827775" cy="393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3600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Three Active Clinical Programs — Provisional Patents Filed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667" y="-19050"/>
            <a:ext cx="344775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 spc="-30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04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7" name="Group 7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1432" y="5485875"/>
            <a:ext cx="15785136" cy="3603382"/>
          </a:xfrm>
          <a:custGeom>
            <a:avLst/>
            <a:gdLst/>
            <a:ahLst/>
            <a:cxnLst/>
            <a:rect l="l" t="t" r="r" b="b"/>
            <a:pathLst>
              <a:path w="15785136" h="3603382">
                <a:moveTo>
                  <a:pt x="0" y="0"/>
                </a:moveTo>
                <a:lnTo>
                  <a:pt x="15785136" y="0"/>
                </a:lnTo>
                <a:lnTo>
                  <a:pt x="15785136" y="3603382"/>
                </a:lnTo>
                <a:lnTo>
                  <a:pt x="0" y="3603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6006" b="-504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105400" y="1442340"/>
            <a:ext cx="8984507" cy="1518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Precision Regional Anesthesia Platform</a:t>
            </a:r>
          </a:p>
          <a:p>
            <a:pPr algn="just"/>
            <a:r>
              <a:rPr lang="en-US" sz="3600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Provisional Patent Filed · STTR-Ready</a:t>
            </a:r>
          </a:p>
          <a:p>
            <a:pPr marL="920931" lvl="1" indent="-460466" algn="just">
              <a:lnSpc>
                <a:spcPts val="3240"/>
              </a:lnSpc>
            </a:pPr>
            <a:endParaRPr lang="en-US" sz="2700" dirty="0">
              <a:solidFill>
                <a:srgbClr val="41B3A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978156" y="421266"/>
            <a:ext cx="10331687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7"/>
              </a:lnSpc>
            </a:pPr>
            <a:r>
              <a:rPr lang="en-US" sz="5122" spc="-102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Pudendal Nerve Block Device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9099" y="2960704"/>
            <a:ext cx="174498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Novel device for precision-guided pudendal nerve block delivery in OB/Gyn and other pelvic procedures — closing the gap in reproducible, safe regional anesthesia that disproportionately affects women in labor and pelvic surgery. Addresses a critical unmet need in pain management equity.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7" name="Group 7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45814" y="1423474"/>
            <a:ext cx="14996372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solidFill>
                  <a:srgbClr val="41B3A3"/>
                </a:solidFill>
                <a:latin typeface="Arial"/>
                <a:ea typeface="Arial"/>
                <a:cs typeface="Arial"/>
                <a:sym typeface="Arial"/>
              </a:rPr>
              <a:t>Motorized Electrosurgical Platform· FDA Pre-Sub Filed · STTR-Ready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78157" y="568475"/>
            <a:ext cx="10331687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7"/>
              </a:lnSpc>
            </a:pPr>
            <a:r>
              <a:rPr lang="en-US" sz="5122" spc="-102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Belotte </a:t>
            </a:r>
            <a:r>
              <a:rPr lang="en-US" sz="5122" spc="-102" dirty="0" err="1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Colpotomizer</a:t>
            </a:r>
            <a:r>
              <a:rPr lang="en-US" sz="5122" spc="-102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56766" y="3467354"/>
            <a:ext cx="11154733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Motorized double-walled rotating blade electrosurgical colpotomy device — transforming laparoscopic hysterectomy precision and reducing surgical morbidity at the vaginal cuff. Directly addresses the leading source of post-hysterectomy complications in women.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194063" y="9258300"/>
            <a:ext cx="19247625" cy="3316599"/>
            <a:chOff x="0" y="0"/>
            <a:chExt cx="25663500" cy="4422132"/>
          </a:xfrm>
        </p:grpSpPr>
        <p:grpSp>
          <p:nvGrpSpPr>
            <p:cNvPr id="8" name="Group 8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760606" y="685800"/>
              <a:ext cx="9424794" cy="58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February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16" name="Group 16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45B3DC2C-7EC6-7F40-3AAB-14C4091884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589" t="7013" b="52658"/>
          <a:stretch>
            <a:fillRect/>
          </a:stretch>
        </p:blipFill>
        <p:spPr>
          <a:xfrm>
            <a:off x="-194063" y="3238500"/>
            <a:ext cx="6177902" cy="32307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83625" y="666750"/>
            <a:ext cx="139207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12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Benefits to NEG+ Innovations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82299" y="3628149"/>
            <a:ext cx="14705701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2305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Partnered academic sites enable IDE study execution and IRB approval — the critical path to FDA 510(k) clearance for each of our three STTR-eligible devices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29469" y="2623262"/>
            <a:ext cx="164295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spc="-132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9469" y="4547312"/>
            <a:ext cx="16429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2299" y="6966662"/>
            <a:ext cx="1470570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CLINICAL EVIDENCE &amp; IP STRENGTHENING FOR PATIENTS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82299" y="7738187"/>
            <a:ext cx="1470570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2305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Real-world data from a credentialed academic partner strengthens patent claims, supports regulatory submissions, and anchors clinical evidence dossiers — ultimately getting better devices to the women who need them faster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82299" y="4737812"/>
            <a:ext cx="1159865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NON-DILUTIVE CAPITAL VIA STTR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9469" y="6776162"/>
            <a:ext cx="16429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82299" y="5509337"/>
            <a:ext cx="14705701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2305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STTR Phase I ($300K) and Phase II ($1.5–2M) awards provide non-dilutive funding that preserves founder equity and extends pre-Series A runway — your institution's participation is structurally required and directly funded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2299" y="2856624"/>
            <a:ext cx="9253226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REGULATORY ACCELERATION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667" y="-19050"/>
            <a:ext cx="344775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 spc="-30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07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14" name="Group 14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699225" y="666750"/>
            <a:ext cx="108895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NEXT STEPS 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362463"/>
              </p:ext>
            </p:extLst>
          </p:nvPr>
        </p:nvGraphicFramePr>
        <p:xfrm>
          <a:off x="564138" y="1830699"/>
          <a:ext cx="17159724" cy="6962778"/>
        </p:xfrm>
        <a:graphic>
          <a:graphicData uri="http://schemas.openxmlformats.org/drawingml/2006/table">
            <a:tbl>
              <a:tblPr/>
              <a:tblGrid>
                <a:gridCol w="2250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9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9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0463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FFFFFF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Week 1–2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FFFFFF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Expression of Interest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38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4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99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Week 2-3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38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4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99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Ongoing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38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04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99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Ongoing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38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1100" dirty="0"/>
                        <a:t> </a:t>
                      </a:r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04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99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Ongoing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38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0463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F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38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38667" y="-19050"/>
            <a:ext cx="344775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 spc="-30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08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479813" y="9258300"/>
            <a:ext cx="19247625" cy="3316599"/>
            <a:chOff x="0" y="0"/>
            <a:chExt cx="25663500" cy="4422132"/>
          </a:xfrm>
        </p:grpSpPr>
        <p:grpSp>
          <p:nvGrpSpPr>
            <p:cNvPr id="7" name="Group 7"/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AD1AAE-7B43-3C45-3F8E-A7766D1F9EB5}"/>
              </a:ext>
            </a:extLst>
          </p:cNvPr>
          <p:cNvSpPr txBox="1"/>
          <p:nvPr/>
        </p:nvSpPr>
        <p:spPr>
          <a:xfrm>
            <a:off x="2819400" y="3314700"/>
            <a:ext cx="4759636" cy="5170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99" dirty="0">
                <a:solidFill>
                  <a:srgbClr val="FFFFFF"/>
                </a:solidFill>
                <a:latin typeface="Archivo Black"/>
                <a:sym typeface="Archivo Black"/>
              </a:rPr>
              <a:t>Formalize the relationship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B7B5A4-8D18-E620-A7A7-B275B84B3B7C}"/>
              </a:ext>
            </a:extLst>
          </p:cNvPr>
          <p:cNvSpPr txBox="1"/>
          <p:nvPr/>
        </p:nvSpPr>
        <p:spPr>
          <a:xfrm>
            <a:off x="2819401" y="4457700"/>
            <a:ext cx="4953000" cy="523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99"/>
              </a:lnSpc>
              <a:defRPr/>
            </a:pPr>
            <a:r>
              <a:rPr lang="en-US" sz="2499" dirty="0">
                <a:solidFill>
                  <a:srgbClr val="FFFFFF"/>
                </a:solidFill>
                <a:latin typeface="Archivo Black"/>
              </a:rPr>
              <a:t>Audit/Finance Committee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67AB7-C935-3C9B-9718-8F3347AE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C6D8784-77ED-3B84-BE5F-E4B28A856715}"/>
              </a:ext>
            </a:extLst>
          </p:cNvPr>
          <p:cNvSpPr txBox="1"/>
          <p:nvPr/>
        </p:nvSpPr>
        <p:spPr>
          <a:xfrm>
            <a:off x="2175785" y="399845"/>
            <a:ext cx="139207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12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91E7562-E04C-A0C7-4E1D-DFDA483E45E4}"/>
              </a:ext>
            </a:extLst>
          </p:cNvPr>
          <p:cNvGrpSpPr/>
          <p:nvPr/>
        </p:nvGrpSpPr>
        <p:grpSpPr>
          <a:xfrm>
            <a:off x="-959625" y="9258300"/>
            <a:ext cx="19247625" cy="3316599"/>
            <a:chOff x="0" y="0"/>
            <a:chExt cx="25663500" cy="4422132"/>
          </a:xfrm>
        </p:grpSpPr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A4BAA3A0-1669-C641-1353-71BEE95D063B}"/>
                </a:ext>
              </a:extLst>
            </p:cNvPr>
            <p:cNvGrpSpPr/>
            <p:nvPr/>
          </p:nvGrpSpPr>
          <p:grpSpPr>
            <a:xfrm>
              <a:off x="1258594" y="0"/>
              <a:ext cx="24404906" cy="1371600"/>
              <a:chOff x="0" y="0"/>
              <a:chExt cx="4820722" cy="270933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A1BEBF3F-8DC8-053A-70C5-483FF817E55E}"/>
                  </a:ext>
                </a:extLst>
              </p:cNvPr>
              <p:cNvSpPr/>
              <p:nvPr/>
            </p:nvSpPr>
            <p:spPr>
              <a:xfrm>
                <a:off x="0" y="0"/>
                <a:ext cx="482072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20722" h="270933">
                    <a:moveTo>
                      <a:pt x="0" y="0"/>
                    </a:moveTo>
                    <a:lnTo>
                      <a:pt x="4820722" y="0"/>
                    </a:lnTo>
                    <a:lnTo>
                      <a:pt x="482072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308891D8-DDBE-FB63-F3AF-49F6F7434F4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20722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E9C591E9-CF1A-F7F8-66CC-39961FBAA270}"/>
                </a:ext>
              </a:extLst>
            </p:cNvPr>
            <p:cNvGrpSpPr/>
            <p:nvPr/>
          </p:nvGrpSpPr>
          <p:grpSpPr>
            <a:xfrm>
              <a:off x="0" y="307332"/>
              <a:ext cx="25663500" cy="4114800"/>
              <a:chOff x="0" y="0"/>
              <a:chExt cx="5069333" cy="812800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6670F3BC-8D22-91EB-9A2B-860F85AC83FD}"/>
                  </a:ext>
                </a:extLst>
              </p:cNvPr>
              <p:cNvSpPr/>
              <p:nvPr/>
            </p:nvSpPr>
            <p:spPr>
              <a:xfrm>
                <a:off x="0" y="0"/>
                <a:ext cx="50693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69333" h="812800">
                    <a:moveTo>
                      <a:pt x="0" y="0"/>
                    </a:moveTo>
                    <a:lnTo>
                      <a:pt x="5069333" y="0"/>
                    </a:lnTo>
                    <a:lnTo>
                      <a:pt x="50693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>
                <a:extLst>
                  <a:ext uri="{FF2B5EF4-FFF2-40B4-BE49-F238E27FC236}">
                    <a16:creationId xmlns:a16="http://schemas.microsoft.com/office/drawing/2014/main" id="{BE7699E3-C8EF-A2B2-FB9E-3C863263476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069333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0A3A1F46-F37A-DD99-DFBB-EAEFF5B4B3C6}"/>
                </a:ext>
              </a:extLst>
            </p:cNvPr>
            <p:cNvSpPr txBox="1"/>
            <p:nvPr/>
          </p:nvSpPr>
          <p:spPr>
            <a:xfrm>
              <a:off x="1760607" y="685800"/>
              <a:ext cx="9424795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sp>
        <p:nvSpPr>
          <p:cNvPr id="18" name="TextBox 6">
            <a:extLst>
              <a:ext uri="{FF2B5EF4-FFF2-40B4-BE49-F238E27FC236}">
                <a16:creationId xmlns:a16="http://schemas.microsoft.com/office/drawing/2014/main" id="{7085D56C-B26A-B4CA-6078-0AA347D07148}"/>
              </a:ext>
            </a:extLst>
          </p:cNvPr>
          <p:cNvSpPr txBox="1"/>
          <p:nvPr/>
        </p:nvSpPr>
        <p:spPr>
          <a:xfrm>
            <a:off x="3472985" y="1799245"/>
            <a:ext cx="11326350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dirty="0">
                <a:solidFill>
                  <a:srgbClr val="41B3A3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MISSION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199DB41F-417F-C262-F3B1-90B468F8E1E4}"/>
              </a:ext>
            </a:extLst>
          </p:cNvPr>
          <p:cNvSpPr txBox="1"/>
          <p:nvPr/>
        </p:nvSpPr>
        <p:spPr>
          <a:xfrm>
            <a:off x="839391" y="2734151"/>
            <a:ext cx="17143809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To close the expression gap in women's health by designing, developing, and commercializing novel medical devices that improve clinical outcomes, enhance procedural safety, and give every woman — regardless of geography or socioeconomic status — access to the standard of care she deserves. We exist for the patient first.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F03DD848-51C5-6478-C324-A86CB666A488}"/>
              </a:ext>
            </a:extLst>
          </p:cNvPr>
          <p:cNvSpPr txBox="1"/>
          <p:nvPr/>
        </p:nvSpPr>
        <p:spPr>
          <a:xfrm>
            <a:off x="495300" y="5483304"/>
            <a:ext cx="17297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 i="1" spc="-6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We are closing the expression gap in women's health</a:t>
            </a:r>
          </a:p>
          <a:p>
            <a:pPr algn="ctr">
              <a:spcBef>
                <a:spcPct val="0"/>
              </a:spcBef>
            </a:pPr>
            <a:r>
              <a:rPr lang="en-US" sz="3600" i="1" spc="-6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 and we want to build this with you.</a:t>
            </a:r>
          </a:p>
        </p:txBody>
      </p:sp>
    </p:spTree>
    <p:extLst>
      <p:ext uri="{BB962C8B-B14F-4D97-AF65-F5344CB8AC3E}">
        <p14:creationId xmlns:p14="http://schemas.microsoft.com/office/powerpoint/2010/main" val="4041625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83625" y="19050"/>
            <a:ext cx="13920750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12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  <a:p>
            <a:pPr algn="ctr">
              <a:lnSpc>
                <a:spcPts val="7200"/>
              </a:lnSpc>
            </a:pPr>
            <a:endParaRPr lang="en-US" sz="6000" spc="-120" dirty="0">
              <a:solidFill>
                <a:srgbClr val="1B263B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ctr">
              <a:lnSpc>
                <a:spcPts val="7200"/>
              </a:lnSpc>
            </a:pPr>
            <a:r>
              <a:rPr lang="en-US" sz="6000" spc="-120" dirty="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Questions?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92388" y="7864312"/>
            <a:ext cx="1150322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 u="none" strike="noStrike" spc="-60" dirty="0">
                <a:solidFill>
                  <a:srgbClr val="1B263B"/>
                </a:solidFill>
                <a:latin typeface="Arial"/>
                <a:ea typeface="Arial"/>
                <a:cs typeface="Arial"/>
                <a:sym typeface="Arial"/>
              </a:rPr>
              <a:t>Contact: Jimmy Belotte, MD, PhD, MBA; FACOG · Founder &amp; CEO,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667" y="-19050"/>
            <a:ext cx="344775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 spc="-300">
                <a:solidFill>
                  <a:srgbClr val="1B263B"/>
                </a:solidFill>
                <a:latin typeface="Archivo Black"/>
                <a:ea typeface="Archivo Black"/>
                <a:cs typeface="Archivo Black"/>
                <a:sym typeface="Archivo Black"/>
              </a:rPr>
              <a:t>12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902475" y="9258300"/>
            <a:ext cx="19190475" cy="3316599"/>
            <a:chOff x="0" y="0"/>
            <a:chExt cx="25587300" cy="4422132"/>
          </a:xfrm>
        </p:grpSpPr>
        <p:grpSp>
          <p:nvGrpSpPr>
            <p:cNvPr id="7" name="Group 7"/>
            <p:cNvGrpSpPr/>
            <p:nvPr/>
          </p:nvGrpSpPr>
          <p:grpSpPr>
            <a:xfrm>
              <a:off x="1254857" y="0"/>
              <a:ext cx="24332443" cy="1371600"/>
              <a:chOff x="0" y="0"/>
              <a:chExt cx="4806409" cy="270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06409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06409" h="270933">
                    <a:moveTo>
                      <a:pt x="0" y="0"/>
                    </a:moveTo>
                    <a:lnTo>
                      <a:pt x="4806409" y="0"/>
                    </a:lnTo>
                    <a:lnTo>
                      <a:pt x="4806409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41B3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06409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307332"/>
              <a:ext cx="25587300" cy="4114800"/>
              <a:chOff x="0" y="0"/>
              <a:chExt cx="5054281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05428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054281" h="812800">
                    <a:moveTo>
                      <a:pt x="0" y="0"/>
                    </a:moveTo>
                    <a:lnTo>
                      <a:pt x="5054281" y="0"/>
                    </a:lnTo>
                    <a:lnTo>
                      <a:pt x="5054281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B263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054281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755379" y="685800"/>
              <a:ext cx="9396811" cy="60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r>
                <a:rPr lang="en-US" sz="1499" spc="-29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NEG+ Innovations, Inc. · Confidential · May 2026</a:t>
              </a:r>
            </a:p>
            <a:p>
              <a:pPr algn="ctr">
                <a:lnSpc>
                  <a:spcPts val="1799"/>
                </a:lnSpc>
                <a:spcBef>
                  <a:spcPct val="0"/>
                </a:spcBef>
              </a:pPr>
              <a:endParaRPr lang="en-US" sz="1499" spc="-2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17220"/>
            <a:ext cx="822960" cy="34290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3" name="Shape 1"/>
          <p:cNvSpPr/>
          <p:nvPr/>
        </p:nvSpPr>
        <p:spPr>
          <a:xfrm>
            <a:off x="685800" y="617220"/>
            <a:ext cx="34290" cy="548640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4" name="Text 2"/>
          <p:cNvSpPr/>
          <p:nvPr/>
        </p:nvSpPr>
        <p:spPr>
          <a:xfrm>
            <a:off x="902367" y="754380"/>
            <a:ext cx="1508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kern="0" spc="120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  ·   THE MOAT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85800" y="1303020"/>
            <a:ext cx="16870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has left the same quadrant open.</a:t>
            </a:r>
            <a:endParaRPr lang="en-US" sz="3600" dirty="0"/>
          </a:p>
          <a:p>
            <a:r>
              <a:rPr lang="en-US" sz="3600" b="1" i="1" dirty="0">
                <a:solidFill>
                  <a:srgbClr val="00A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both procedures.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168706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on the two axes investors care about — cost per case and skill required — every existing alternative for both procedures clusters in the high-skill or high-cost half-plane. The low-skill / low-cost quadrant is empty.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85800" y="3634740"/>
            <a:ext cx="8161020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8" name="Shape 6"/>
          <p:cNvSpPr/>
          <p:nvPr/>
        </p:nvSpPr>
        <p:spPr>
          <a:xfrm>
            <a:off x="685800" y="3634740"/>
            <a:ext cx="8161020" cy="89154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 sz="27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81304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51660" y="3813048"/>
            <a:ext cx="678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Pudendal Nerve Block — Alternatives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1234440" y="6892290"/>
            <a:ext cx="3600450" cy="1885950"/>
          </a:xfrm>
          <a:prstGeom prst="rect">
            <a:avLst/>
          </a:prstGeom>
          <a:solidFill>
            <a:srgbClr val="D6F0EE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2" name="Text 9"/>
          <p:cNvSpPr/>
          <p:nvPr/>
        </p:nvSpPr>
        <p:spPr>
          <a:xfrm>
            <a:off x="1344168" y="696087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i="1" kern="0" spc="600" dirty="0">
                <a:solidFill>
                  <a:srgbClr val="0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SPACE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234440" y="6892290"/>
            <a:ext cx="7200900" cy="0"/>
          </a:xfrm>
          <a:prstGeom prst="line">
            <a:avLst/>
          </a:prstGeom>
          <a:noFill/>
          <a:ln w="9525">
            <a:solidFill>
              <a:srgbClr val="A8B0BA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14" name="Shape 11"/>
          <p:cNvSpPr/>
          <p:nvPr/>
        </p:nvSpPr>
        <p:spPr>
          <a:xfrm>
            <a:off x="4834890" y="5006340"/>
            <a:ext cx="0" cy="3771900"/>
          </a:xfrm>
          <a:prstGeom prst="line">
            <a:avLst/>
          </a:prstGeom>
          <a:noFill/>
          <a:ln w="9525">
            <a:solidFill>
              <a:srgbClr val="A8B0BA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15" name="Shape 12"/>
          <p:cNvSpPr/>
          <p:nvPr/>
        </p:nvSpPr>
        <p:spPr>
          <a:xfrm>
            <a:off x="1234440" y="5006340"/>
            <a:ext cx="7200900" cy="3771900"/>
          </a:xfrm>
          <a:prstGeom prst="rect">
            <a:avLst/>
          </a:prstGeom>
          <a:ln w="6350">
            <a:solidFill>
              <a:srgbClr val="A8B0BA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16" name="Text 13"/>
          <p:cNvSpPr/>
          <p:nvPr/>
        </p:nvSpPr>
        <p:spPr>
          <a:xfrm>
            <a:off x="1234440" y="46222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5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COST PER CASE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34440" y="8846820"/>
            <a:ext cx="7200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45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REQUIRED 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89304" y="85039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A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7818120" y="50612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25" i="1" dirty="0">
                <a:solidFill>
                  <a:srgbClr val="5A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25" dirty="0"/>
          </a:p>
        </p:txBody>
      </p:sp>
      <p:sp>
        <p:nvSpPr>
          <p:cNvPr id="20" name="Shape 17"/>
          <p:cNvSpPr/>
          <p:nvPr/>
        </p:nvSpPr>
        <p:spPr>
          <a:xfrm>
            <a:off x="6713982" y="7962138"/>
            <a:ext cx="274320" cy="274320"/>
          </a:xfrm>
          <a:prstGeom prst="ellipse">
            <a:avLst/>
          </a:prstGeom>
          <a:solidFill>
            <a:srgbClr val="5A68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21" name="Text 18"/>
          <p:cNvSpPr/>
          <p:nvPr/>
        </p:nvSpPr>
        <p:spPr>
          <a:xfrm>
            <a:off x="5959602" y="768781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trumpet</a:t>
            </a:r>
            <a:endParaRPr lang="en-US" sz="1275" dirty="0"/>
          </a:p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(landmark)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7218045" y="5925312"/>
            <a:ext cx="274320" cy="274320"/>
          </a:xfrm>
          <a:prstGeom prst="ellipse">
            <a:avLst/>
          </a:prstGeom>
          <a:solidFill>
            <a:srgbClr val="5A68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23" name="Text 20"/>
          <p:cNvSpPr/>
          <p:nvPr/>
        </p:nvSpPr>
        <p:spPr>
          <a:xfrm>
            <a:off x="7574661" y="596646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Ultrasound-</a:t>
            </a:r>
            <a:endParaRPr lang="en-US" sz="1275" dirty="0"/>
          </a:p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PNB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7722108" y="5170932"/>
            <a:ext cx="274320" cy="274320"/>
          </a:xfrm>
          <a:prstGeom prst="ellipse">
            <a:avLst/>
          </a:prstGeom>
          <a:solidFill>
            <a:srgbClr val="5A68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25" name="Text 22"/>
          <p:cNvSpPr/>
          <p:nvPr/>
        </p:nvSpPr>
        <p:spPr>
          <a:xfrm>
            <a:off x="5733288" y="5212080"/>
            <a:ext cx="1988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Neuraxial /</a:t>
            </a:r>
            <a:endParaRPr lang="en-US" sz="1275" dirty="0"/>
          </a:p>
          <a:p>
            <a:pPr algn="r"/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epidural</a:t>
            </a:r>
            <a:endParaRPr lang="en-US" sz="1275" dirty="0"/>
          </a:p>
        </p:txBody>
      </p:sp>
      <p:sp>
        <p:nvSpPr>
          <p:cNvPr id="26" name="Shape 23"/>
          <p:cNvSpPr/>
          <p:nvPr/>
        </p:nvSpPr>
        <p:spPr>
          <a:xfrm>
            <a:off x="2393442" y="5698998"/>
            <a:ext cx="274320" cy="274320"/>
          </a:xfrm>
          <a:prstGeom prst="ellipse">
            <a:avLst/>
          </a:prstGeom>
          <a:solidFill>
            <a:srgbClr val="5A68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27" name="Text 24"/>
          <p:cNvSpPr/>
          <p:nvPr/>
        </p:nvSpPr>
        <p:spPr>
          <a:xfrm>
            <a:off x="2750058" y="574014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275" dirty="0"/>
          </a:p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infiltration</a:t>
            </a:r>
            <a:endParaRPr lang="en-US" sz="1275" dirty="0"/>
          </a:p>
        </p:txBody>
      </p:sp>
      <p:sp>
        <p:nvSpPr>
          <p:cNvPr id="28" name="Shape 25"/>
          <p:cNvSpPr/>
          <p:nvPr/>
        </p:nvSpPr>
        <p:spPr>
          <a:xfrm>
            <a:off x="2283714" y="7776972"/>
            <a:ext cx="493776" cy="493776"/>
          </a:xfrm>
          <a:prstGeom prst="ellipse">
            <a:avLst/>
          </a:prstGeom>
          <a:solidFill>
            <a:srgbClr val="00A6A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29" name="Shape 26"/>
          <p:cNvSpPr/>
          <p:nvPr/>
        </p:nvSpPr>
        <p:spPr>
          <a:xfrm>
            <a:off x="2462022" y="7955280"/>
            <a:ext cx="137160" cy="1371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30" name="Text 27"/>
          <p:cNvSpPr/>
          <p:nvPr/>
        </p:nvSpPr>
        <p:spPr>
          <a:xfrm>
            <a:off x="2859786" y="7927848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2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Pudendal Nerve Block Device™</a:t>
            </a:r>
            <a:endParaRPr lang="en-US" sz="1425" dirty="0"/>
          </a:p>
        </p:txBody>
      </p:sp>
      <p:sp>
        <p:nvSpPr>
          <p:cNvPr id="31" name="Shape 28"/>
          <p:cNvSpPr/>
          <p:nvPr/>
        </p:nvSpPr>
        <p:spPr>
          <a:xfrm>
            <a:off x="9395460" y="3634740"/>
            <a:ext cx="8161020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32" name="Shape 29"/>
          <p:cNvSpPr/>
          <p:nvPr/>
        </p:nvSpPr>
        <p:spPr>
          <a:xfrm>
            <a:off x="9395460" y="3634740"/>
            <a:ext cx="8161020" cy="89154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 sz="270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940" y="3813048"/>
            <a:ext cx="548640" cy="5486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561320" y="3813048"/>
            <a:ext cx="678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Colpotomy — Alternatives</a:t>
            </a:r>
            <a:endParaRPr lang="en-US" sz="2250" dirty="0"/>
          </a:p>
        </p:txBody>
      </p:sp>
      <p:sp>
        <p:nvSpPr>
          <p:cNvPr id="35" name="Shape 31"/>
          <p:cNvSpPr/>
          <p:nvPr/>
        </p:nvSpPr>
        <p:spPr>
          <a:xfrm>
            <a:off x="9944100" y="6892290"/>
            <a:ext cx="3600450" cy="1885950"/>
          </a:xfrm>
          <a:prstGeom prst="rect">
            <a:avLst/>
          </a:prstGeom>
          <a:solidFill>
            <a:srgbClr val="D6F0EE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36" name="Text 32"/>
          <p:cNvSpPr/>
          <p:nvPr/>
        </p:nvSpPr>
        <p:spPr>
          <a:xfrm>
            <a:off x="10053828" y="696087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i="1" kern="0" spc="600" dirty="0">
                <a:solidFill>
                  <a:srgbClr val="0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SPACE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9944100" y="6892290"/>
            <a:ext cx="7200900" cy="0"/>
          </a:xfrm>
          <a:prstGeom prst="line">
            <a:avLst/>
          </a:prstGeom>
          <a:noFill/>
          <a:ln w="9525">
            <a:solidFill>
              <a:srgbClr val="A8B0BA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38" name="Shape 34"/>
          <p:cNvSpPr/>
          <p:nvPr/>
        </p:nvSpPr>
        <p:spPr>
          <a:xfrm>
            <a:off x="13544550" y="5006340"/>
            <a:ext cx="0" cy="3771900"/>
          </a:xfrm>
          <a:prstGeom prst="line">
            <a:avLst/>
          </a:prstGeom>
          <a:noFill/>
          <a:ln w="9525">
            <a:solidFill>
              <a:srgbClr val="A8B0BA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39" name="Shape 35"/>
          <p:cNvSpPr/>
          <p:nvPr/>
        </p:nvSpPr>
        <p:spPr>
          <a:xfrm>
            <a:off x="9944100" y="5006340"/>
            <a:ext cx="7200900" cy="3771900"/>
          </a:xfrm>
          <a:prstGeom prst="rect">
            <a:avLst/>
          </a:prstGeom>
          <a:ln w="6350">
            <a:solidFill>
              <a:srgbClr val="A8B0BA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40" name="Text 36"/>
          <p:cNvSpPr/>
          <p:nvPr/>
        </p:nvSpPr>
        <p:spPr>
          <a:xfrm>
            <a:off x="9944100" y="46222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5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COST PER CASE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9944100" y="8846820"/>
            <a:ext cx="7200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45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REQUIRED →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9998964" y="85039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A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25" dirty="0"/>
          </a:p>
        </p:txBody>
      </p:sp>
      <p:sp>
        <p:nvSpPr>
          <p:cNvPr id="43" name="Text 39"/>
          <p:cNvSpPr/>
          <p:nvPr/>
        </p:nvSpPr>
        <p:spPr>
          <a:xfrm>
            <a:off x="16527780" y="50612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25" i="1" dirty="0">
                <a:solidFill>
                  <a:srgbClr val="5A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25" dirty="0"/>
          </a:p>
        </p:txBody>
      </p:sp>
      <p:sp>
        <p:nvSpPr>
          <p:cNvPr id="44" name="Shape 40"/>
          <p:cNvSpPr/>
          <p:nvPr/>
        </p:nvSpPr>
        <p:spPr>
          <a:xfrm>
            <a:off x="15567660" y="7509510"/>
            <a:ext cx="274320" cy="274320"/>
          </a:xfrm>
          <a:prstGeom prst="ellipse">
            <a:avLst/>
          </a:prstGeom>
          <a:solidFill>
            <a:srgbClr val="5A68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45" name="Text 41"/>
          <p:cNvSpPr/>
          <p:nvPr/>
        </p:nvSpPr>
        <p:spPr>
          <a:xfrm>
            <a:off x="14813280" y="704268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Electrosurgical</a:t>
            </a:r>
            <a:endParaRPr lang="en-US" sz="1275" dirty="0"/>
          </a:p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colpotomy (TLH)</a:t>
            </a:r>
            <a:endParaRPr lang="en-US" sz="1275" dirty="0"/>
          </a:p>
        </p:txBody>
      </p:sp>
      <p:sp>
        <p:nvSpPr>
          <p:cNvPr id="46" name="Shape 42"/>
          <p:cNvSpPr/>
          <p:nvPr/>
        </p:nvSpPr>
        <p:spPr>
          <a:xfrm>
            <a:off x="15207615" y="7811262"/>
            <a:ext cx="274320" cy="274320"/>
          </a:xfrm>
          <a:prstGeom prst="ellipse">
            <a:avLst/>
          </a:prstGeom>
          <a:solidFill>
            <a:srgbClr val="5A68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47" name="Text 43"/>
          <p:cNvSpPr/>
          <p:nvPr/>
        </p:nvSpPr>
        <p:spPr>
          <a:xfrm>
            <a:off x="14453235" y="815416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cup</a:t>
            </a:r>
            <a:endParaRPr lang="en-US" sz="1275" dirty="0"/>
          </a:p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(RUMI / V-Care)</a:t>
            </a:r>
            <a:endParaRPr lang="en-US" sz="1275" dirty="0"/>
          </a:p>
        </p:txBody>
      </p:sp>
      <p:sp>
        <p:nvSpPr>
          <p:cNvPr id="48" name="Shape 44"/>
          <p:cNvSpPr/>
          <p:nvPr/>
        </p:nvSpPr>
        <p:spPr>
          <a:xfrm>
            <a:off x="15567660" y="5057775"/>
            <a:ext cx="274320" cy="274320"/>
          </a:xfrm>
          <a:prstGeom prst="ellipse">
            <a:avLst/>
          </a:prstGeom>
          <a:solidFill>
            <a:srgbClr val="5A68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49" name="Text 45"/>
          <p:cNvSpPr/>
          <p:nvPr/>
        </p:nvSpPr>
        <p:spPr>
          <a:xfrm>
            <a:off x="13446494" y="5098923"/>
            <a:ext cx="1988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 platform</a:t>
            </a:r>
            <a:endParaRPr lang="en-US" sz="1275" dirty="0"/>
          </a:p>
          <a:p>
            <a:pPr algn="r"/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 Vinci)</a:t>
            </a:r>
            <a:endParaRPr lang="en-US" sz="1275" dirty="0"/>
          </a:p>
        </p:txBody>
      </p:sp>
      <p:sp>
        <p:nvSpPr>
          <p:cNvPr id="50" name="Shape 46"/>
          <p:cNvSpPr/>
          <p:nvPr/>
        </p:nvSpPr>
        <p:spPr>
          <a:xfrm>
            <a:off x="12687300" y="5434965"/>
            <a:ext cx="274320" cy="274320"/>
          </a:xfrm>
          <a:prstGeom prst="ellipse">
            <a:avLst/>
          </a:prstGeom>
          <a:solidFill>
            <a:srgbClr val="5A68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51" name="Text 47"/>
          <p:cNvSpPr/>
          <p:nvPr/>
        </p:nvSpPr>
        <p:spPr>
          <a:xfrm>
            <a:off x="11732483" y="5776901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colpotomy</a:t>
            </a:r>
            <a:endParaRPr lang="en-US" sz="1275" dirty="0"/>
          </a:p>
          <a:p>
            <a:r>
              <a:rPr lang="en-US" sz="12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(TAH default)</a:t>
            </a:r>
            <a:endParaRPr lang="en-US" sz="1275" dirty="0"/>
          </a:p>
        </p:txBody>
      </p:sp>
      <p:sp>
        <p:nvSpPr>
          <p:cNvPr id="52" name="Shape 48"/>
          <p:cNvSpPr/>
          <p:nvPr/>
        </p:nvSpPr>
        <p:spPr>
          <a:xfrm>
            <a:off x="10896762" y="7701534"/>
            <a:ext cx="493776" cy="493776"/>
          </a:xfrm>
          <a:prstGeom prst="ellipse">
            <a:avLst/>
          </a:prstGeom>
          <a:solidFill>
            <a:srgbClr val="00A6A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53" name="Shape 49"/>
          <p:cNvSpPr/>
          <p:nvPr/>
        </p:nvSpPr>
        <p:spPr>
          <a:xfrm>
            <a:off x="11075070" y="7879842"/>
            <a:ext cx="137160" cy="1371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54" name="Text 50"/>
          <p:cNvSpPr/>
          <p:nvPr/>
        </p:nvSpPr>
        <p:spPr>
          <a:xfrm>
            <a:off x="11472834" y="785241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2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Belotte Colpotomizer™</a:t>
            </a:r>
            <a:endParaRPr lang="en-US" sz="1425" dirty="0"/>
          </a:p>
        </p:txBody>
      </p:sp>
      <p:sp>
        <p:nvSpPr>
          <p:cNvPr id="55" name="Shape 51"/>
          <p:cNvSpPr/>
          <p:nvPr/>
        </p:nvSpPr>
        <p:spPr>
          <a:xfrm>
            <a:off x="685800" y="9738360"/>
            <a:ext cx="16870680" cy="34290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56" name="Text 52"/>
          <p:cNvSpPr/>
          <p:nvPr/>
        </p:nvSpPr>
        <p:spPr>
          <a:xfrm>
            <a:off x="685800" y="9787931"/>
            <a:ext cx="16870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75" b="1" i="1" dirty="0">
                <a:solidFill>
                  <a:srgbClr val="00A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moat: </a:t>
            </a:r>
            <a:r>
              <a:rPr lang="en-US" sz="1575" i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purpose-built devices in two empty quadrants — protected by IP, regulatory pathway, and workflow simplicity.</a:t>
            </a:r>
            <a:endParaRPr lang="en-US" sz="1575" dirty="0"/>
          </a:p>
        </p:txBody>
      </p:sp>
      <p:sp>
        <p:nvSpPr>
          <p:cNvPr id="57" name="Text 53"/>
          <p:cNvSpPr/>
          <p:nvPr/>
        </p:nvSpPr>
        <p:spPr>
          <a:xfrm>
            <a:off x="685800" y="10040112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A8B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NEG-PITCH-CMP-2026-002  ·  Slide 09 / Competitive Landscape</a:t>
            </a:r>
            <a:endParaRPr lang="en-US" sz="1050" dirty="0"/>
          </a:p>
        </p:txBody>
      </p:sp>
      <p:sp>
        <p:nvSpPr>
          <p:cNvPr id="58" name="Text 54"/>
          <p:cNvSpPr/>
          <p:nvPr/>
        </p:nvSpPr>
        <p:spPr>
          <a:xfrm>
            <a:off x="8983980" y="10040112"/>
            <a:ext cx="8572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NEG+ Innovations, Inc.  ·  Reg D Rule 506(b)  ·  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828800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0" y="1755648"/>
            <a:ext cx="18288000" cy="73152"/>
          </a:xfrm>
          <a:prstGeom prst="rect">
            <a:avLst/>
          </a:prstGeom>
          <a:solidFill>
            <a:srgbClr val="41B3A3"/>
          </a:solidFill>
          <a:ln w="12700">
            <a:solidFill>
              <a:srgbClr val="41B3A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12064" y="52156"/>
            <a:ext cx="1719072" cy="1627632"/>
          </a:xfrm>
          <a:prstGeom prst="rect">
            <a:avLst/>
          </a:prstGeom>
          <a:solidFill>
            <a:srgbClr val="41B3A3"/>
          </a:solidFill>
          <a:ln w="12700">
            <a:solidFill>
              <a:srgbClr val="41B3A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681394" y="165946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800" b="1" dirty="0">
                <a:solidFill>
                  <a:srgbClr val="1B263B"/>
                </a:solidFill>
              </a:rPr>
              <a:t>04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231136" y="256032"/>
            <a:ext cx="16209264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 Three Devices. One Platform. Shared Infrastructure.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12064" y="2011680"/>
            <a:ext cx="5632704" cy="7607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1B263B">
                <a:alpha val="15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8" name="Shape 6"/>
          <p:cNvSpPr/>
          <p:nvPr/>
        </p:nvSpPr>
        <p:spPr>
          <a:xfrm>
            <a:off x="512064" y="2011680"/>
            <a:ext cx="5632704" cy="694944"/>
          </a:xfrm>
          <a:prstGeom prst="rect">
            <a:avLst/>
          </a:prstGeom>
          <a:solidFill>
            <a:srgbClr val="41B3A3"/>
          </a:solidFill>
          <a:ln w="12700">
            <a:solidFill>
              <a:srgbClr val="41B3A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512064" y="2011680"/>
            <a:ext cx="5632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kern="0" spc="400" dirty="0">
                <a:solidFill>
                  <a:srgbClr val="FFFFFF"/>
                </a:solidFill>
              </a:rPr>
              <a:t>DIAGNOSTICS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94944" y="4261272"/>
            <a:ext cx="526694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00" b="1" dirty="0">
                <a:solidFill>
                  <a:srgbClr val="1B263B"/>
                </a:solidFill>
              </a:rPr>
              <a:t>POP-Q Sensorized</a:t>
            </a:r>
            <a:endParaRPr lang="en-US" sz="2900" dirty="0"/>
          </a:p>
          <a:p>
            <a:pPr algn="ctr"/>
            <a:r>
              <a:rPr lang="en-US" sz="2900" b="1" dirty="0">
                <a:solidFill>
                  <a:srgbClr val="1B263B"/>
                </a:solidFill>
              </a:rPr>
              <a:t>Device™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731520" y="5522976"/>
            <a:ext cx="5193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41B3A3"/>
                </a:solidFill>
              </a:rPr>
              <a:t>How it works: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31520" y="5998464"/>
            <a:ext cx="5193792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778DA9"/>
                </a:solidFill>
              </a:rPr>
              <a:t>Multi-axis MEMS sensor array simultaneously measures all 9 POP-Q points. Real-time digital twin. HL7 FHIR EMR integration. SaaS AI/ML analytics platform.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731520" y="8083296"/>
            <a:ext cx="5193792" cy="1389888"/>
          </a:xfrm>
          <a:prstGeom prst="rect">
            <a:avLst/>
          </a:prstGeom>
          <a:solidFill>
            <a:srgbClr val="41B3A3"/>
          </a:solidFill>
          <a:ln w="12700">
            <a:solidFill>
              <a:srgbClr val="41B3A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6" name="Text 13"/>
          <p:cNvSpPr/>
          <p:nvPr/>
        </p:nvSpPr>
        <p:spPr>
          <a:xfrm>
            <a:off x="731520" y="8083296"/>
            <a:ext cx="519379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ICC 0.45 → &gt;0.90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FFFFFF"/>
                </a:solidFill>
              </a:rPr>
              <a:t>First-in-category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FFFFFF"/>
                </a:solidFill>
              </a:rPr>
              <a:t>FDA 510(k) / De Novo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437376" y="2011680"/>
            <a:ext cx="5632704" cy="7607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1B263B">
                <a:alpha val="15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18" name="Shape 15"/>
          <p:cNvSpPr/>
          <p:nvPr/>
        </p:nvSpPr>
        <p:spPr>
          <a:xfrm>
            <a:off x="6437376" y="2011680"/>
            <a:ext cx="5632704" cy="6949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9" name="Text 16"/>
          <p:cNvSpPr/>
          <p:nvPr/>
        </p:nvSpPr>
        <p:spPr>
          <a:xfrm>
            <a:off x="6437376" y="2011680"/>
            <a:ext cx="5632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kern="0" spc="400" dirty="0">
                <a:solidFill>
                  <a:srgbClr val="FFFFFF"/>
                </a:solidFill>
              </a:rPr>
              <a:t>SURGICAL</a:t>
            </a:r>
            <a:endParaRPr lang="en-US" sz="3600" dirty="0"/>
          </a:p>
        </p:txBody>
      </p:sp>
      <p:sp>
        <p:nvSpPr>
          <p:cNvPr id="22" name="Text 18"/>
          <p:cNvSpPr/>
          <p:nvPr/>
        </p:nvSpPr>
        <p:spPr>
          <a:xfrm>
            <a:off x="6620256" y="4273488"/>
            <a:ext cx="526694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00" b="1" dirty="0">
                <a:solidFill>
                  <a:srgbClr val="1B263B"/>
                </a:solidFill>
              </a:rPr>
              <a:t>Belotte</a:t>
            </a:r>
            <a:endParaRPr lang="en-US" sz="2900" dirty="0"/>
          </a:p>
          <a:p>
            <a:pPr algn="ctr"/>
            <a:r>
              <a:rPr lang="en-US" sz="2900" b="1" dirty="0">
                <a:solidFill>
                  <a:srgbClr val="1B263B"/>
                </a:solidFill>
              </a:rPr>
              <a:t>Colpotomizer™</a:t>
            </a:r>
            <a:endParaRPr lang="en-US" sz="2900" dirty="0"/>
          </a:p>
        </p:txBody>
      </p:sp>
      <p:sp>
        <p:nvSpPr>
          <p:cNvPr id="23" name="Text 19"/>
          <p:cNvSpPr/>
          <p:nvPr/>
        </p:nvSpPr>
        <p:spPr>
          <a:xfrm>
            <a:off x="6656832" y="5522976"/>
            <a:ext cx="5193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B263B"/>
                </a:solidFill>
              </a:rPr>
              <a:t>How it works:</a:t>
            </a:r>
            <a:endParaRPr lang="en-US" sz="2800" dirty="0"/>
          </a:p>
        </p:txBody>
      </p:sp>
      <p:sp>
        <p:nvSpPr>
          <p:cNvPr id="24" name="Text 20"/>
          <p:cNvSpPr/>
          <p:nvPr/>
        </p:nvSpPr>
        <p:spPr>
          <a:xfrm>
            <a:off x="6656832" y="5998464"/>
            <a:ext cx="5193792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778DA9"/>
                </a:solidFill>
              </a:rPr>
              <a:t>Motor-driven 360° circumferential incision + pneumatic balloon stent + microprocessor-regulated electrosurgery. One integrated system — no direct competitor anywhere.</a:t>
            </a:r>
          </a:p>
        </p:txBody>
      </p:sp>
      <p:sp>
        <p:nvSpPr>
          <p:cNvPr id="25" name="Shape 21"/>
          <p:cNvSpPr/>
          <p:nvPr/>
        </p:nvSpPr>
        <p:spPr>
          <a:xfrm>
            <a:off x="6656832" y="8083296"/>
            <a:ext cx="5193792" cy="1389888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6" name="Text 22"/>
          <p:cNvSpPr/>
          <p:nvPr/>
        </p:nvSpPr>
        <p:spPr>
          <a:xfrm>
            <a:off x="6656832" y="8083296"/>
            <a:ext cx="519379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60-sec vs 8–14 min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FFFFFF"/>
                </a:solidFill>
              </a:rPr>
              <a:t>&lt;2mm thermal spread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</a:rPr>
              <a:t>FDA 510(k) Class II</a:t>
            </a:r>
          </a:p>
        </p:txBody>
      </p:sp>
      <p:sp>
        <p:nvSpPr>
          <p:cNvPr id="27" name="Shape 23"/>
          <p:cNvSpPr/>
          <p:nvPr/>
        </p:nvSpPr>
        <p:spPr>
          <a:xfrm>
            <a:off x="12362688" y="2011680"/>
            <a:ext cx="5632704" cy="7607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1B263B">
                <a:alpha val="15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28" name="Shape 24"/>
          <p:cNvSpPr/>
          <p:nvPr/>
        </p:nvSpPr>
        <p:spPr>
          <a:xfrm>
            <a:off x="12362688" y="2011680"/>
            <a:ext cx="5632704" cy="694944"/>
          </a:xfrm>
          <a:prstGeom prst="rect">
            <a:avLst/>
          </a:prstGeom>
          <a:solidFill>
            <a:srgbClr val="778DA9"/>
          </a:solidFill>
          <a:ln w="12700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9" name="Text 25"/>
          <p:cNvSpPr/>
          <p:nvPr/>
        </p:nvSpPr>
        <p:spPr>
          <a:xfrm>
            <a:off x="12362688" y="2011680"/>
            <a:ext cx="5632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kern="0" spc="400" dirty="0">
                <a:solidFill>
                  <a:srgbClr val="FFFFFF"/>
                </a:solidFill>
              </a:rPr>
              <a:t>INTERVENTIONAL</a:t>
            </a:r>
            <a:endParaRPr lang="en-US" sz="3600" dirty="0"/>
          </a:p>
        </p:txBody>
      </p:sp>
      <p:sp>
        <p:nvSpPr>
          <p:cNvPr id="32" name="Text 27"/>
          <p:cNvSpPr/>
          <p:nvPr/>
        </p:nvSpPr>
        <p:spPr>
          <a:xfrm>
            <a:off x="12545568" y="4312816"/>
            <a:ext cx="526694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00" b="1" dirty="0">
                <a:solidFill>
                  <a:srgbClr val="1B263B"/>
                </a:solidFill>
              </a:rPr>
              <a:t>Pudendal Block</a:t>
            </a:r>
            <a:endParaRPr lang="en-US" sz="2900" dirty="0"/>
          </a:p>
          <a:p>
            <a:pPr algn="ctr"/>
            <a:r>
              <a:rPr lang="en-US" sz="2900" b="1" dirty="0">
                <a:solidFill>
                  <a:srgbClr val="1B263B"/>
                </a:solidFill>
              </a:rPr>
              <a:t>Device™</a:t>
            </a:r>
            <a:endParaRPr lang="en-US" sz="2900" dirty="0"/>
          </a:p>
        </p:txBody>
      </p:sp>
      <p:sp>
        <p:nvSpPr>
          <p:cNvPr id="33" name="Text 28"/>
          <p:cNvSpPr/>
          <p:nvPr/>
        </p:nvSpPr>
        <p:spPr>
          <a:xfrm>
            <a:off x="12582144" y="5522976"/>
            <a:ext cx="5193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778DA9"/>
                </a:solidFill>
              </a:rPr>
              <a:t>How it works:</a:t>
            </a:r>
            <a:endParaRPr lang="en-US" sz="2800" dirty="0"/>
          </a:p>
        </p:txBody>
      </p:sp>
      <p:sp>
        <p:nvSpPr>
          <p:cNvPr id="34" name="Text 29"/>
          <p:cNvSpPr/>
          <p:nvPr/>
        </p:nvSpPr>
        <p:spPr>
          <a:xfrm>
            <a:off x="12582144" y="5998464"/>
            <a:ext cx="5193792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778DA9"/>
                </a:solidFill>
              </a:rPr>
              <a:t>Calibrated mechanical depth-stop + tactile tissue-plane feedback + volume-controlled delivery. Purpose-built for office pelvic procedures and late-stages of obstetrical labor.</a:t>
            </a:r>
          </a:p>
        </p:txBody>
      </p:sp>
      <p:sp>
        <p:nvSpPr>
          <p:cNvPr id="35" name="Shape 30"/>
          <p:cNvSpPr/>
          <p:nvPr/>
        </p:nvSpPr>
        <p:spPr>
          <a:xfrm>
            <a:off x="12582144" y="8083296"/>
            <a:ext cx="5193792" cy="1389888"/>
          </a:xfrm>
          <a:prstGeom prst="rect">
            <a:avLst/>
          </a:prstGeom>
          <a:solidFill>
            <a:srgbClr val="778DA9"/>
          </a:solidFill>
          <a:ln w="12700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6" name="Text 31"/>
          <p:cNvSpPr/>
          <p:nvPr/>
        </p:nvSpPr>
        <p:spPr>
          <a:xfrm>
            <a:off x="12582144" y="8083296"/>
            <a:ext cx="519379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CPT 64430 — exists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</a:rPr>
              <a:t>Year 3 first revenue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</a:rPr>
              <a:t>FDA 510(k) Class II</a:t>
            </a:r>
          </a:p>
        </p:txBody>
      </p:sp>
      <p:sp>
        <p:nvSpPr>
          <p:cNvPr id="37" name="Shape 32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8" name="Text 33"/>
          <p:cNvSpPr/>
          <p:nvPr/>
        </p:nvSpPr>
        <p:spPr>
          <a:xfrm>
            <a:off x="548640" y="9802368"/>
            <a:ext cx="1719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B0BEC5"/>
                </a:solidFill>
              </a:rPr>
              <a:t>Shared ISO 13485 QMS  ·  Common sales channel  ·  Each device independently eligible for NIH SBIR grants  ·  NEG+ Innovations, Inc.  ·  Confidential</a:t>
            </a:r>
            <a:endParaRPr lang="en-US" sz="15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27B2784-22B5-FE64-BA8E-191387FC84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014825" y="2743200"/>
            <a:ext cx="2675974" cy="1783984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44" name="AutoShape 4" descr="Laparoscopic colpotomy device schematic overview">
            <a:extLst>
              <a:ext uri="{FF2B5EF4-FFF2-40B4-BE49-F238E27FC236}">
                <a16:creationId xmlns:a16="http://schemas.microsoft.com/office/drawing/2014/main" id="{35F7B59C-3942-20EE-F106-1D8F93C3E1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39200" y="48387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en-US" sz="360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EB9DD5B-F790-0D39-F54F-54E53D5494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589" t="7013" b="52658"/>
          <a:stretch>
            <a:fillRect/>
          </a:stretch>
        </p:blipFill>
        <p:spPr>
          <a:xfrm>
            <a:off x="7498077" y="2714880"/>
            <a:ext cx="3750026" cy="196109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7698255-CD03-6385-048A-596B9BA8FA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722" t="12705" r="24768" b="10579"/>
          <a:stretch>
            <a:fillRect/>
          </a:stretch>
        </p:blipFill>
        <p:spPr>
          <a:xfrm>
            <a:off x="14329619" y="2762864"/>
            <a:ext cx="1589594" cy="17839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100EC0-0002-B4C2-1866-05451D1E89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13" t="-3973" r="-613" b="-411"/>
          <a:stretch>
            <a:fillRect/>
          </a:stretch>
        </p:blipFill>
        <p:spPr>
          <a:xfrm>
            <a:off x="2819400" y="190500"/>
            <a:ext cx="12573000" cy="95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40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2540</TotalTime>
  <Words>1657</Words>
  <Application>Microsoft Macintosh PowerPoint</Application>
  <PresentationFormat>Custom</PresentationFormat>
  <Paragraphs>274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Archivo Black</vt:lpstr>
      <vt:lpstr>Georgia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Jimmy's presesnation</dc:title>
  <cp:lastModifiedBy>Jimmy Belotte</cp:lastModifiedBy>
  <cp:revision>50</cp:revision>
  <dcterms:created xsi:type="dcterms:W3CDTF">2006-08-16T00:00:00Z</dcterms:created>
  <dcterms:modified xsi:type="dcterms:W3CDTF">2026-05-05T16:11:22Z</dcterms:modified>
  <dc:identifier>DAHILDoaFFQ</dc:identifier>
</cp:coreProperties>
</file>